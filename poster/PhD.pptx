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</p:sldIdLst>
  <p:sldSz cx="9906000" cy="6858000" type="A4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E0933F"/>
    <a:srgbClr val="69B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5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B63C-759C-4C0A-A4DD-10F6523094E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FA06-27D7-4FDD-A847-6DFAE86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98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B63C-759C-4C0A-A4DD-10F6523094E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FA06-27D7-4FDD-A847-6DFAE86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9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B63C-759C-4C0A-A4DD-10F6523094E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FA06-27D7-4FDD-A847-6DFAE86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46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B63C-759C-4C0A-A4DD-10F6523094E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FA06-27D7-4FDD-A847-6DFAE86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31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B63C-759C-4C0A-A4DD-10F6523094E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FA06-27D7-4FDD-A847-6DFAE86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652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B63C-759C-4C0A-A4DD-10F6523094E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FA06-27D7-4FDD-A847-6DFAE86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41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B63C-759C-4C0A-A4DD-10F6523094E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FA06-27D7-4FDD-A847-6DFAE86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63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B63C-759C-4C0A-A4DD-10F6523094E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FA06-27D7-4FDD-A847-6DFAE86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866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B63C-759C-4C0A-A4DD-10F6523094E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FA06-27D7-4FDD-A847-6DFAE86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76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B63C-759C-4C0A-A4DD-10F6523094E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FA06-27D7-4FDD-A847-6DFAE86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425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B63C-759C-4C0A-A4DD-10F6523094E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CFA06-27D7-4FDD-A847-6DFAE86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479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CB63C-759C-4C0A-A4DD-10F6523094EE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CFA06-27D7-4FDD-A847-6DFAE86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686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5B94553-6C5E-9222-38CB-2482B7173823}"/>
              </a:ext>
            </a:extLst>
          </p:cNvPr>
          <p:cNvSpPr/>
          <p:nvPr/>
        </p:nvSpPr>
        <p:spPr>
          <a:xfrm>
            <a:off x="-247650" y="-37511"/>
            <a:ext cx="10301289" cy="1377845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4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2BE54B-E94B-2368-7942-A0966304CD47}"/>
              </a:ext>
            </a:extLst>
          </p:cNvPr>
          <p:cNvSpPr txBox="1"/>
          <p:nvPr/>
        </p:nvSpPr>
        <p:spPr>
          <a:xfrm>
            <a:off x="363761" y="132611"/>
            <a:ext cx="9004473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7902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950" b="1">
                <a:solidFill>
                  <a:srgbClr val="E0933F"/>
                </a:solidFill>
                <a:latin typeface="Comic Sans MS" panose="030F0702030302020204" pitchFamily="66" charset="0"/>
              </a:rPr>
              <a:t>Kine</a:t>
            </a:r>
            <a:r>
              <a:rPr lang="en-US" altLang="zh-CN" sz="1950" b="1">
                <a:solidFill>
                  <a:srgbClr val="00B0F0"/>
                </a:solidFill>
                <a:latin typeface="Comic Sans MS" panose="030F0702030302020204" pitchFamily="66" charset="0"/>
              </a:rPr>
              <a:t>S</a:t>
            </a:r>
            <a:r>
              <a:rPr lang="en-US" altLang="zh-CN" sz="1950" b="1">
                <a:solidFill>
                  <a:schemeClr val="accent6"/>
                </a:solidFill>
                <a:latin typeface="Comic Sans MS" panose="030F0702030302020204" pitchFamily="66" charset="0"/>
              </a:rPr>
              <a:t>T</a:t>
            </a:r>
            <a:r>
              <a:rPr lang="en-US" altLang="zh-CN" sz="1950">
                <a:latin typeface="Arial" panose="020B0604020202020204" pitchFamily="34" charset="0"/>
                <a:cs typeface="Arial" panose="020B0604020202020204" pitchFamily="34" charset="0"/>
              </a:rPr>
              <a:t>: A Kinematics-guided Spatiotemporal State Space Model for </a:t>
            </a:r>
            <a:r>
              <a:rPr lang="en-US" altLang="zh-CN" sz="1950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Motion Tracking</a:t>
            </a:r>
            <a:r>
              <a:rPr lang="en-US" altLang="zh-CN" sz="1950">
                <a:latin typeface="Arial" panose="020B0604020202020204" pitchFamily="34" charset="0"/>
                <a:cs typeface="Arial" panose="020B0604020202020204" pitchFamily="34" charset="0"/>
              </a:rPr>
              <a:t> from Sparse Signals</a:t>
            </a:r>
          </a:p>
          <a:p>
            <a:pPr algn="ctr" defTabSz="57902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9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2D9B27-EE70-5111-6420-3C9DA7F7837D}"/>
              </a:ext>
            </a:extLst>
          </p:cNvPr>
          <p:cNvSpPr txBox="1"/>
          <p:nvPr/>
        </p:nvSpPr>
        <p:spPr>
          <a:xfrm>
            <a:off x="2365564" y="1037966"/>
            <a:ext cx="5087596" cy="24335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1463" b="1"/>
              <a:t>Fudan University</a:t>
            </a:r>
          </a:p>
        </p:txBody>
      </p:sp>
      <p:pic>
        <p:nvPicPr>
          <p:cNvPr id="7" name="Image 2">
            <a:extLst>
              <a:ext uri="{FF2B5EF4-FFF2-40B4-BE49-F238E27FC236}">
                <a16:creationId xmlns:a16="http://schemas.microsoft.com/office/drawing/2014/main" id="{66569652-DD1E-1174-FD01-D8B0BBF63ACF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r="65815"/>
          <a:stretch/>
        </p:blipFill>
        <p:spPr>
          <a:xfrm>
            <a:off x="8926671" y="533103"/>
            <a:ext cx="822058" cy="76001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9D87D60-69ED-0818-CF1A-1184BE06D051}"/>
              </a:ext>
            </a:extLst>
          </p:cNvPr>
          <p:cNvSpPr txBox="1"/>
          <p:nvPr/>
        </p:nvSpPr>
        <p:spPr>
          <a:xfrm>
            <a:off x="1918633" y="801348"/>
            <a:ext cx="6385508" cy="32257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1463" b="1">
                <a:solidFill>
                  <a:srgbClr val="E0933F"/>
                </a:solidFill>
              </a:rPr>
              <a:t>Shuting Zhao</a:t>
            </a:r>
            <a:r>
              <a:rPr lang="en-US" altLang="zh-CN" sz="1463" b="1"/>
              <a:t>*, Zeyu Xiao*, Xinrong Chen</a:t>
            </a:r>
            <a:endParaRPr lang="en-US" altLang="zh-CN" sz="1463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334476-6063-B6B0-7695-0553844DBB3E}"/>
              </a:ext>
            </a:extLst>
          </p:cNvPr>
          <p:cNvGrpSpPr/>
          <p:nvPr/>
        </p:nvGrpSpPr>
        <p:grpSpPr>
          <a:xfrm>
            <a:off x="7198915" y="4640584"/>
            <a:ext cx="2607253" cy="1639809"/>
            <a:chOff x="10956985" y="19090642"/>
            <a:chExt cx="3557430" cy="218782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2A70C32-3B52-B646-6229-8A8907513334}"/>
                </a:ext>
              </a:extLst>
            </p:cNvPr>
            <p:cNvSpPr txBox="1"/>
            <p:nvPr/>
          </p:nvSpPr>
          <p:spPr>
            <a:xfrm>
              <a:off x="11219408" y="19466783"/>
              <a:ext cx="1828956" cy="423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63" b="1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en-US" altLang="zh-CN" sz="1463" b="1"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endParaRPr lang="zh-CN" altLang="en-US" sz="1463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70621A57-8A85-5795-9B83-F529CEF7E302}"/>
                </a:ext>
              </a:extLst>
            </p:cNvPr>
            <p:cNvGrpSpPr/>
            <p:nvPr/>
          </p:nvGrpSpPr>
          <p:grpSpPr>
            <a:xfrm>
              <a:off x="10956985" y="19090642"/>
              <a:ext cx="3557430" cy="2187822"/>
              <a:chOff x="10956985" y="19090642"/>
              <a:chExt cx="3557430" cy="2187822"/>
            </a:xfrm>
          </p:grpSpPr>
          <p:pic>
            <p:nvPicPr>
              <p:cNvPr id="12" name="图片 11" descr="QR 代码&#10;&#10;AI 生成的内容可能不正确。">
                <a:extLst>
                  <a:ext uri="{FF2B5EF4-FFF2-40B4-BE49-F238E27FC236}">
                    <a16:creationId xmlns:a16="http://schemas.microsoft.com/office/drawing/2014/main" id="{01C69257-B99A-8929-AC77-6E3D2F07F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70" t="5256" r="3739" b="4718"/>
              <a:stretch/>
            </p:blipFill>
            <p:spPr>
              <a:xfrm>
                <a:off x="11164754" y="19822642"/>
                <a:ext cx="1405657" cy="1393808"/>
              </a:xfrm>
              <a:prstGeom prst="rect">
                <a:avLst/>
              </a:prstGeom>
            </p:spPr>
          </p:pic>
          <p:pic>
            <p:nvPicPr>
              <p:cNvPr id="13" name="图片 12" descr="QR 代码&#10;&#10;AI 生成的内容可能不正确。">
                <a:extLst>
                  <a:ext uri="{FF2B5EF4-FFF2-40B4-BE49-F238E27FC236}">
                    <a16:creationId xmlns:a16="http://schemas.microsoft.com/office/drawing/2014/main" id="{B86EF9AA-F535-5095-FE5C-EE9B168593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813" t="24802" r="11531" b="18698"/>
              <a:stretch/>
            </p:blipFill>
            <p:spPr>
              <a:xfrm>
                <a:off x="12665588" y="19806189"/>
                <a:ext cx="1339854" cy="1337893"/>
              </a:xfrm>
              <a:prstGeom prst="rect">
                <a:avLst/>
              </a:prstGeom>
            </p:spPr>
          </p:pic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D737D0D-6627-C83F-E6C1-EA99C0A809BB}"/>
                  </a:ext>
                </a:extLst>
              </p:cNvPr>
              <p:cNvSpPr txBox="1"/>
              <p:nvPr/>
            </p:nvSpPr>
            <p:spPr>
              <a:xfrm>
                <a:off x="12685459" y="19392821"/>
                <a:ext cx="1828956" cy="423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463" b="1">
                    <a:solidFill>
                      <a:srgbClr val="A7549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WeChat</a:t>
                </a:r>
                <a:endParaRPr lang="zh-CN" altLang="en-US" sz="1463" b="1">
                  <a:solidFill>
                    <a:srgbClr val="A7549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E6614685-935B-71AC-7323-070C89078153}"/>
                  </a:ext>
                </a:extLst>
              </p:cNvPr>
              <p:cNvGrpSpPr/>
              <p:nvPr/>
            </p:nvGrpSpPr>
            <p:grpSpPr>
              <a:xfrm>
                <a:off x="10956985" y="19090642"/>
                <a:ext cx="3275607" cy="2187822"/>
                <a:chOff x="277419" y="14798880"/>
                <a:chExt cx="17682880" cy="6881472"/>
              </a:xfrm>
            </p:grpSpPr>
            <p:sp>
              <p:nvSpPr>
                <p:cNvPr id="16" name="矩形: 圆角 15">
                  <a:extLst>
                    <a:ext uri="{FF2B5EF4-FFF2-40B4-BE49-F238E27FC236}">
                      <a16:creationId xmlns:a16="http://schemas.microsoft.com/office/drawing/2014/main" id="{064D566F-893D-6BA7-A894-CEBC39A4E58B}"/>
                    </a:ext>
                  </a:extLst>
                </p:cNvPr>
                <p:cNvSpPr/>
                <p:nvPr/>
              </p:nvSpPr>
              <p:spPr>
                <a:xfrm>
                  <a:off x="277419" y="15382891"/>
                  <a:ext cx="17682880" cy="6297461"/>
                </a:xfrm>
                <a:custGeom>
                  <a:avLst/>
                  <a:gdLst>
                    <a:gd name="connsiteX0" fmla="*/ 0 w 17682880"/>
                    <a:gd name="connsiteY0" fmla="*/ 689131 h 6297461"/>
                    <a:gd name="connsiteX1" fmla="*/ 689131 w 17682880"/>
                    <a:gd name="connsiteY1" fmla="*/ 0 h 6297461"/>
                    <a:gd name="connsiteX2" fmla="*/ 16993749 w 17682880"/>
                    <a:gd name="connsiteY2" fmla="*/ 0 h 6297461"/>
                    <a:gd name="connsiteX3" fmla="*/ 17682880 w 17682880"/>
                    <a:gd name="connsiteY3" fmla="*/ 689131 h 6297461"/>
                    <a:gd name="connsiteX4" fmla="*/ 17682880 w 17682880"/>
                    <a:gd name="connsiteY4" fmla="*/ 5608330 h 6297461"/>
                    <a:gd name="connsiteX5" fmla="*/ 16993749 w 17682880"/>
                    <a:gd name="connsiteY5" fmla="*/ 6297461 h 6297461"/>
                    <a:gd name="connsiteX6" fmla="*/ 689131 w 17682880"/>
                    <a:gd name="connsiteY6" fmla="*/ 6297461 h 6297461"/>
                    <a:gd name="connsiteX7" fmla="*/ 0 w 17682880"/>
                    <a:gd name="connsiteY7" fmla="*/ 5608330 h 6297461"/>
                    <a:gd name="connsiteX8" fmla="*/ 0 w 17682880"/>
                    <a:gd name="connsiteY8" fmla="*/ 689131 h 6297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682880" h="6297461" extrusionOk="0">
                      <a:moveTo>
                        <a:pt x="0" y="689131"/>
                      </a:moveTo>
                      <a:cubicBezTo>
                        <a:pt x="-10394" y="302123"/>
                        <a:pt x="296632" y="4467"/>
                        <a:pt x="689131" y="0"/>
                      </a:cubicBezTo>
                      <a:cubicBezTo>
                        <a:pt x="8279034" y="132882"/>
                        <a:pt x="13999365" y="-84951"/>
                        <a:pt x="16993749" y="0"/>
                      </a:cubicBezTo>
                      <a:cubicBezTo>
                        <a:pt x="17358022" y="15942"/>
                        <a:pt x="17673444" y="360687"/>
                        <a:pt x="17682880" y="689131"/>
                      </a:cubicBezTo>
                      <a:cubicBezTo>
                        <a:pt x="17703067" y="2424894"/>
                        <a:pt x="17835360" y="3920887"/>
                        <a:pt x="17682880" y="5608330"/>
                      </a:cubicBezTo>
                      <a:cubicBezTo>
                        <a:pt x="17717664" y="5993053"/>
                        <a:pt x="17377689" y="6290582"/>
                        <a:pt x="16993749" y="6297461"/>
                      </a:cubicBezTo>
                      <a:cubicBezTo>
                        <a:pt x="10379320" y="6385100"/>
                        <a:pt x="6294985" y="6224782"/>
                        <a:pt x="689131" y="6297461"/>
                      </a:cubicBezTo>
                      <a:cubicBezTo>
                        <a:pt x="306894" y="6281818"/>
                        <a:pt x="-18643" y="6014836"/>
                        <a:pt x="0" y="5608330"/>
                      </a:cubicBezTo>
                      <a:cubicBezTo>
                        <a:pt x="-38581" y="4288688"/>
                        <a:pt x="63341" y="1337834"/>
                        <a:pt x="0" y="689131"/>
                      </a:cubicBezTo>
                      <a:close/>
                    </a:path>
                  </a:pathLst>
                </a:custGeom>
                <a:noFill/>
                <a:ln w="76200">
                  <a:solidFill>
                    <a:srgbClr val="C1E5F5"/>
                  </a:solidFill>
                  <a:prstDash val="solid"/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>
                            <a:gd name="adj" fmla="val 10943"/>
                          </a:avLst>
                        </a:prstGeom>
                        <ask:type>
                          <ask:lineSketchCurved/>
                        </ask:type>
                      </ask:lineSketchStyleProps>
                    </a:ext>
                  </a:extLst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4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矩形: 圆角 16">
                  <a:extLst>
                    <a:ext uri="{FF2B5EF4-FFF2-40B4-BE49-F238E27FC236}">
                      <a16:creationId xmlns:a16="http://schemas.microsoft.com/office/drawing/2014/main" id="{CA0895E0-2AB8-E8B4-479E-A1D770AEF0D1}"/>
                    </a:ext>
                  </a:extLst>
                </p:cNvPr>
                <p:cNvSpPr/>
                <p:nvPr/>
              </p:nvSpPr>
              <p:spPr>
                <a:xfrm>
                  <a:off x="4478005" y="14798880"/>
                  <a:ext cx="9018510" cy="999874"/>
                </a:xfrm>
                <a:prstGeom prst="roundRect">
                  <a:avLst>
                    <a:gd name="adj" fmla="val 30386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9" b="1">
                      <a:solidFill>
                        <a:srgbClr val="60B8D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anose="020B0604020202020204" pitchFamily="34" charset="0"/>
                      <a:cs typeface="Arial" panose="020B0604020202020204" pitchFamily="34" charset="0"/>
                    </a:rPr>
                    <a:t>Scan It !</a:t>
                  </a:r>
                  <a:endParaRPr lang="en-US" altLang="zh-CN" sz="1609" b="1" dirty="0">
                    <a:solidFill>
                      <a:srgbClr val="60B8D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237FD7B2-C99A-224B-0975-53985855CCDF}"/>
              </a:ext>
            </a:extLst>
          </p:cNvPr>
          <p:cNvSpPr/>
          <p:nvPr/>
        </p:nvSpPr>
        <p:spPr>
          <a:xfrm>
            <a:off x="-584227" y="6496802"/>
            <a:ext cx="10580715" cy="361198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4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39AF8D4-9CBE-9F44-174B-D25B431465FA}"/>
              </a:ext>
            </a:extLst>
          </p:cNvPr>
          <p:cNvGrpSpPr/>
          <p:nvPr/>
        </p:nvGrpSpPr>
        <p:grpSpPr>
          <a:xfrm>
            <a:off x="216127" y="6396422"/>
            <a:ext cx="1507123" cy="474999"/>
            <a:chOff x="12922660" y="21046623"/>
            <a:chExt cx="1707675" cy="465546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C0807FA-FB42-8B9E-EFAF-F7FBDFC418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325" r="74982"/>
            <a:stretch/>
          </p:blipFill>
          <p:spPr>
            <a:xfrm>
              <a:off x="12922660" y="21160175"/>
              <a:ext cx="440465" cy="283863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E23889A3-1C2D-414F-A29A-2AACBD6321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00" t="30812" r="51295" b="15191"/>
            <a:stretch/>
          </p:blipFill>
          <p:spPr>
            <a:xfrm>
              <a:off x="13391568" y="21046623"/>
              <a:ext cx="1238767" cy="465546"/>
            </a:xfrm>
            <a:prstGeom prst="rect">
              <a:avLst/>
            </a:prstGeom>
          </p:spPr>
        </p:pic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7BCC02A-56DE-9849-17B5-A1F3EB86626C}"/>
              </a:ext>
            </a:extLst>
          </p:cNvPr>
          <p:cNvSpPr txBox="1"/>
          <p:nvPr/>
        </p:nvSpPr>
        <p:spPr>
          <a:xfrm>
            <a:off x="568449" y="2042402"/>
            <a:ext cx="908587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>
                <a:solidFill>
                  <a:srgbClr val="E0933F"/>
                </a:solidFill>
                <a:latin typeface="Comic Sans MS" panose="030F0702030302020204" pitchFamily="66" charset="0"/>
              </a:rPr>
              <a:t>Looking for </a:t>
            </a:r>
            <a:r>
              <a:rPr lang="en-US" altLang="zh-CN" sz="8800" b="1">
                <a:solidFill>
                  <a:schemeClr val="accent5"/>
                </a:solidFill>
                <a:latin typeface="Comic Sans MS" panose="030F0702030302020204" pitchFamily="66" charset="0"/>
              </a:rPr>
              <a:t>P</a:t>
            </a:r>
            <a:r>
              <a:rPr lang="en-US" altLang="zh-CN" sz="8800" b="1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h</a:t>
            </a:r>
            <a:r>
              <a:rPr lang="en-US" altLang="zh-CN" sz="8800" b="1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D</a:t>
            </a:r>
            <a:r>
              <a:rPr lang="en-US" altLang="zh-CN" sz="3600" b="1">
                <a:solidFill>
                  <a:srgbClr val="E0933F"/>
                </a:solidFill>
                <a:latin typeface="Comic Sans MS" panose="030F0702030302020204" pitchFamily="66" charset="0"/>
              </a:rPr>
              <a:t> Position </a:t>
            </a:r>
            <a:r>
              <a:rPr lang="zh-CN" altLang="en-US" sz="3600" b="1">
                <a:solidFill>
                  <a:srgbClr val="E0933F"/>
                </a:solidFill>
                <a:latin typeface="Comic Sans MS" panose="030F0702030302020204" pitchFamily="66" charset="0"/>
              </a:rPr>
              <a:t>！！！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B311C-829E-DE5D-B862-BFB2AF6225DA}"/>
              </a:ext>
            </a:extLst>
          </p:cNvPr>
          <p:cNvSpPr txBox="1"/>
          <p:nvPr/>
        </p:nvSpPr>
        <p:spPr>
          <a:xfrm>
            <a:off x="3084971" y="4106900"/>
            <a:ext cx="324601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>
                <a:solidFill>
                  <a:srgbClr val="00B0F0"/>
                </a:solidFill>
                <a:latin typeface="Comic Sans MS" panose="030F0702030302020204" pitchFamily="66" charset="0"/>
              </a:rPr>
              <a:t>Research Interests:</a:t>
            </a:r>
          </a:p>
          <a:p>
            <a:pPr algn="ctr"/>
            <a:endParaRPr lang="en-US" altLang="zh-CN" sz="2000" b="1">
              <a:solidFill>
                <a:srgbClr val="00B0F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US" altLang="zh-CN" sz="2000" b="1">
                <a:solidFill>
                  <a:srgbClr val="00B0F0"/>
                </a:solidFill>
                <a:latin typeface="Comic Sans MS" panose="030F0702030302020204" pitchFamily="66" charset="0"/>
              </a:rPr>
              <a:t>Human Motion Tracking,</a:t>
            </a:r>
          </a:p>
          <a:p>
            <a:pPr algn="ctr"/>
            <a:r>
              <a:rPr lang="en-US" altLang="zh-CN" sz="2000" b="1">
                <a:solidFill>
                  <a:srgbClr val="00B0F0"/>
                </a:solidFill>
                <a:latin typeface="Comic Sans MS" panose="030F0702030302020204" pitchFamily="66" charset="0"/>
              </a:rPr>
              <a:t>Avatar, </a:t>
            </a:r>
          </a:p>
          <a:p>
            <a:pPr algn="ctr"/>
            <a:r>
              <a:rPr lang="en-US" altLang="zh-CN" sz="2000" b="1">
                <a:solidFill>
                  <a:srgbClr val="00B0F0"/>
                </a:solidFill>
                <a:latin typeface="Comic Sans MS" panose="030F0702030302020204" pitchFamily="66" charset="0"/>
              </a:rPr>
              <a:t>3D Perception,  </a:t>
            </a:r>
            <a:endParaRPr lang="zh-CN" altLang="en-US" sz="2000" b="1">
              <a:solidFill>
                <a:srgbClr val="00B0F0"/>
              </a:solidFill>
              <a:latin typeface="Comic Sans MS" panose="030F0702030302020204" pitchFamily="66" charset="0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47BC249C-0C12-DAC4-50A7-16A23B5488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61" b="99219" l="8594" r="93359">
                        <a14:foregroundMark x1="33398" y1="84863" x2="33398" y2="84863"/>
                        <a14:foregroundMark x1="25781" y1="78125" x2="43262" y2="89746"/>
                        <a14:foregroundMark x1="43262" y1="89746" x2="45508" y2="89746"/>
                        <a14:foregroundMark x1="76660" y1="83789" x2="61035" y2="87500"/>
                        <a14:foregroundMark x1="61035" y1="87500" x2="73926" y2="78125"/>
                        <a14:foregroundMark x1="73926" y1="78125" x2="88086" y2="91211"/>
                        <a14:foregroundMark x1="88086" y1="91211" x2="88477" y2="92773"/>
                        <a14:foregroundMark x1="79883" y1="94824" x2="13770" y2="95605"/>
                        <a14:foregroundMark x1="13770" y1="95605" x2="19238" y2="77930"/>
                        <a14:foregroundMark x1="19238" y1="77930" x2="36719" y2="77441"/>
                        <a14:foregroundMark x1="92090" y1="89258" x2="72852" y2="99414"/>
                        <a14:foregroundMark x1="72852" y1="99414" x2="9473" y2="99219"/>
                        <a14:foregroundMark x1="9473" y1="99219" x2="8691" y2="95703"/>
                        <a14:foregroundMark x1="91797" y1="94824" x2="92090" y2="92578"/>
                        <a14:foregroundMark x1="46777" y1="10840" x2="53711" y2="10059"/>
                        <a14:foregroundMark x1="91016" y1="92285" x2="93359" y2="909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03540" y="3953566"/>
            <a:ext cx="1827012" cy="182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593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5B94553-6C5E-9222-38CB-2482B7173823}"/>
              </a:ext>
            </a:extLst>
          </p:cNvPr>
          <p:cNvSpPr/>
          <p:nvPr/>
        </p:nvSpPr>
        <p:spPr>
          <a:xfrm>
            <a:off x="-247650" y="-37511"/>
            <a:ext cx="10301289" cy="1377845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4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2BE54B-E94B-2368-7942-A0966304CD47}"/>
              </a:ext>
            </a:extLst>
          </p:cNvPr>
          <p:cNvSpPr txBox="1"/>
          <p:nvPr/>
        </p:nvSpPr>
        <p:spPr>
          <a:xfrm>
            <a:off x="363761" y="132611"/>
            <a:ext cx="9004473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7902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950" b="1">
                <a:solidFill>
                  <a:srgbClr val="E0933F"/>
                </a:solidFill>
                <a:latin typeface="Comic Sans MS" panose="030F0702030302020204" pitchFamily="66" charset="0"/>
              </a:rPr>
              <a:t>Kine</a:t>
            </a:r>
            <a:r>
              <a:rPr lang="en-US" altLang="zh-CN" sz="1950" b="1">
                <a:solidFill>
                  <a:srgbClr val="00B0F0"/>
                </a:solidFill>
                <a:latin typeface="Comic Sans MS" panose="030F0702030302020204" pitchFamily="66" charset="0"/>
              </a:rPr>
              <a:t>S</a:t>
            </a:r>
            <a:r>
              <a:rPr lang="en-US" altLang="zh-CN" sz="1950" b="1">
                <a:solidFill>
                  <a:schemeClr val="accent6"/>
                </a:solidFill>
                <a:latin typeface="Comic Sans MS" panose="030F0702030302020204" pitchFamily="66" charset="0"/>
              </a:rPr>
              <a:t>T</a:t>
            </a:r>
            <a:r>
              <a:rPr lang="en-US" altLang="zh-CN" sz="1950">
                <a:latin typeface="Arial" panose="020B0604020202020204" pitchFamily="34" charset="0"/>
                <a:cs typeface="Arial" panose="020B0604020202020204" pitchFamily="34" charset="0"/>
              </a:rPr>
              <a:t>: A Kinematics-guided Spatiotemporal State Space Model for </a:t>
            </a:r>
            <a:r>
              <a:rPr lang="en-US" altLang="zh-CN" sz="1950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Motion Tracking</a:t>
            </a:r>
            <a:r>
              <a:rPr lang="en-US" altLang="zh-CN" sz="1950">
                <a:latin typeface="Arial" panose="020B0604020202020204" pitchFamily="34" charset="0"/>
                <a:cs typeface="Arial" panose="020B0604020202020204" pitchFamily="34" charset="0"/>
              </a:rPr>
              <a:t> from Sparse Signals</a:t>
            </a:r>
          </a:p>
          <a:p>
            <a:pPr algn="ctr" defTabSz="579026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9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2D9B27-EE70-5111-6420-3C9DA7F7837D}"/>
              </a:ext>
            </a:extLst>
          </p:cNvPr>
          <p:cNvSpPr txBox="1"/>
          <p:nvPr/>
        </p:nvSpPr>
        <p:spPr>
          <a:xfrm>
            <a:off x="2365564" y="1037966"/>
            <a:ext cx="5087596" cy="24335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1463" b="1"/>
              <a:t>Fudan University</a:t>
            </a:r>
          </a:p>
        </p:txBody>
      </p:sp>
      <p:pic>
        <p:nvPicPr>
          <p:cNvPr id="7" name="Image 2">
            <a:extLst>
              <a:ext uri="{FF2B5EF4-FFF2-40B4-BE49-F238E27FC236}">
                <a16:creationId xmlns:a16="http://schemas.microsoft.com/office/drawing/2014/main" id="{66569652-DD1E-1174-FD01-D8B0BBF63ACF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r="65815"/>
          <a:stretch/>
        </p:blipFill>
        <p:spPr>
          <a:xfrm>
            <a:off x="8926671" y="533103"/>
            <a:ext cx="822058" cy="76001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9D87D60-69ED-0818-CF1A-1184BE06D051}"/>
              </a:ext>
            </a:extLst>
          </p:cNvPr>
          <p:cNvSpPr txBox="1"/>
          <p:nvPr/>
        </p:nvSpPr>
        <p:spPr>
          <a:xfrm>
            <a:off x="1918633" y="801348"/>
            <a:ext cx="6385508" cy="32257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1463" b="1">
                <a:solidFill>
                  <a:srgbClr val="E0933F"/>
                </a:solidFill>
              </a:rPr>
              <a:t>Shuting Zhao</a:t>
            </a:r>
            <a:r>
              <a:rPr lang="en-US" altLang="zh-CN" sz="1463" b="1"/>
              <a:t>*, Zeyu Xiao*, Xinrong Chen</a:t>
            </a:r>
            <a:endParaRPr lang="en-US" altLang="zh-CN" sz="1463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334476-6063-B6B0-7695-0553844DBB3E}"/>
              </a:ext>
            </a:extLst>
          </p:cNvPr>
          <p:cNvGrpSpPr/>
          <p:nvPr/>
        </p:nvGrpSpPr>
        <p:grpSpPr>
          <a:xfrm>
            <a:off x="7198915" y="4640584"/>
            <a:ext cx="2607253" cy="1639809"/>
            <a:chOff x="10956985" y="19090642"/>
            <a:chExt cx="3557430" cy="218782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2A70C32-3B52-B646-6229-8A8907513334}"/>
                </a:ext>
              </a:extLst>
            </p:cNvPr>
            <p:cNvSpPr txBox="1"/>
            <p:nvPr/>
          </p:nvSpPr>
          <p:spPr>
            <a:xfrm>
              <a:off x="11219408" y="19466783"/>
              <a:ext cx="1828956" cy="423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63" b="1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en-US" altLang="zh-CN" sz="1463" b="1"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  <a:endParaRPr lang="zh-CN" altLang="en-US" sz="1463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70621A57-8A85-5795-9B83-F529CEF7E302}"/>
                </a:ext>
              </a:extLst>
            </p:cNvPr>
            <p:cNvGrpSpPr/>
            <p:nvPr/>
          </p:nvGrpSpPr>
          <p:grpSpPr>
            <a:xfrm>
              <a:off x="10956985" y="19090642"/>
              <a:ext cx="3557430" cy="2187822"/>
              <a:chOff x="10956985" y="19090642"/>
              <a:chExt cx="3557430" cy="2187822"/>
            </a:xfrm>
          </p:grpSpPr>
          <p:pic>
            <p:nvPicPr>
              <p:cNvPr id="12" name="图片 11" descr="QR 代码&#10;&#10;AI 生成的内容可能不正确。">
                <a:extLst>
                  <a:ext uri="{FF2B5EF4-FFF2-40B4-BE49-F238E27FC236}">
                    <a16:creationId xmlns:a16="http://schemas.microsoft.com/office/drawing/2014/main" id="{01C69257-B99A-8929-AC77-6E3D2F07F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70" t="5256" r="3739" b="4718"/>
              <a:stretch/>
            </p:blipFill>
            <p:spPr>
              <a:xfrm>
                <a:off x="11164754" y="19822642"/>
                <a:ext cx="1405657" cy="1393808"/>
              </a:xfrm>
              <a:prstGeom prst="rect">
                <a:avLst/>
              </a:prstGeom>
            </p:spPr>
          </p:pic>
          <p:pic>
            <p:nvPicPr>
              <p:cNvPr id="13" name="图片 12" descr="QR 代码&#10;&#10;AI 生成的内容可能不正确。">
                <a:extLst>
                  <a:ext uri="{FF2B5EF4-FFF2-40B4-BE49-F238E27FC236}">
                    <a16:creationId xmlns:a16="http://schemas.microsoft.com/office/drawing/2014/main" id="{B86EF9AA-F535-5095-FE5C-EE9B168593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813" t="24802" r="11531" b="18698"/>
              <a:stretch/>
            </p:blipFill>
            <p:spPr>
              <a:xfrm>
                <a:off x="12665588" y="19806189"/>
                <a:ext cx="1339854" cy="1337893"/>
              </a:xfrm>
              <a:prstGeom prst="rect">
                <a:avLst/>
              </a:prstGeom>
            </p:spPr>
          </p:pic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D737D0D-6627-C83F-E6C1-EA99C0A809BB}"/>
                  </a:ext>
                </a:extLst>
              </p:cNvPr>
              <p:cNvSpPr txBox="1"/>
              <p:nvPr/>
            </p:nvSpPr>
            <p:spPr>
              <a:xfrm>
                <a:off x="12685459" y="19392821"/>
                <a:ext cx="1828956" cy="423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463" b="1">
                    <a:solidFill>
                      <a:srgbClr val="A7549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WeChat</a:t>
                </a:r>
                <a:endParaRPr lang="zh-CN" altLang="en-US" sz="1463" b="1">
                  <a:solidFill>
                    <a:srgbClr val="A7549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E6614685-935B-71AC-7323-070C89078153}"/>
                  </a:ext>
                </a:extLst>
              </p:cNvPr>
              <p:cNvGrpSpPr/>
              <p:nvPr/>
            </p:nvGrpSpPr>
            <p:grpSpPr>
              <a:xfrm>
                <a:off x="10956985" y="19090642"/>
                <a:ext cx="3275607" cy="2187822"/>
                <a:chOff x="277419" y="14798880"/>
                <a:chExt cx="17682880" cy="6881472"/>
              </a:xfrm>
            </p:grpSpPr>
            <p:sp>
              <p:nvSpPr>
                <p:cNvPr id="16" name="矩形: 圆角 15">
                  <a:extLst>
                    <a:ext uri="{FF2B5EF4-FFF2-40B4-BE49-F238E27FC236}">
                      <a16:creationId xmlns:a16="http://schemas.microsoft.com/office/drawing/2014/main" id="{064D566F-893D-6BA7-A894-CEBC39A4E58B}"/>
                    </a:ext>
                  </a:extLst>
                </p:cNvPr>
                <p:cNvSpPr/>
                <p:nvPr/>
              </p:nvSpPr>
              <p:spPr>
                <a:xfrm>
                  <a:off x="277419" y="15382891"/>
                  <a:ext cx="17682880" cy="6297461"/>
                </a:xfrm>
                <a:custGeom>
                  <a:avLst/>
                  <a:gdLst>
                    <a:gd name="connsiteX0" fmla="*/ 0 w 17682880"/>
                    <a:gd name="connsiteY0" fmla="*/ 689131 h 6297461"/>
                    <a:gd name="connsiteX1" fmla="*/ 689131 w 17682880"/>
                    <a:gd name="connsiteY1" fmla="*/ 0 h 6297461"/>
                    <a:gd name="connsiteX2" fmla="*/ 16993749 w 17682880"/>
                    <a:gd name="connsiteY2" fmla="*/ 0 h 6297461"/>
                    <a:gd name="connsiteX3" fmla="*/ 17682880 w 17682880"/>
                    <a:gd name="connsiteY3" fmla="*/ 689131 h 6297461"/>
                    <a:gd name="connsiteX4" fmla="*/ 17682880 w 17682880"/>
                    <a:gd name="connsiteY4" fmla="*/ 5608330 h 6297461"/>
                    <a:gd name="connsiteX5" fmla="*/ 16993749 w 17682880"/>
                    <a:gd name="connsiteY5" fmla="*/ 6297461 h 6297461"/>
                    <a:gd name="connsiteX6" fmla="*/ 689131 w 17682880"/>
                    <a:gd name="connsiteY6" fmla="*/ 6297461 h 6297461"/>
                    <a:gd name="connsiteX7" fmla="*/ 0 w 17682880"/>
                    <a:gd name="connsiteY7" fmla="*/ 5608330 h 6297461"/>
                    <a:gd name="connsiteX8" fmla="*/ 0 w 17682880"/>
                    <a:gd name="connsiteY8" fmla="*/ 689131 h 6297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682880" h="6297461" extrusionOk="0">
                      <a:moveTo>
                        <a:pt x="0" y="689131"/>
                      </a:moveTo>
                      <a:cubicBezTo>
                        <a:pt x="-10394" y="302123"/>
                        <a:pt x="296632" y="4467"/>
                        <a:pt x="689131" y="0"/>
                      </a:cubicBezTo>
                      <a:cubicBezTo>
                        <a:pt x="8279034" y="132882"/>
                        <a:pt x="13999365" y="-84951"/>
                        <a:pt x="16993749" y="0"/>
                      </a:cubicBezTo>
                      <a:cubicBezTo>
                        <a:pt x="17358022" y="15942"/>
                        <a:pt x="17673444" y="360687"/>
                        <a:pt x="17682880" y="689131"/>
                      </a:cubicBezTo>
                      <a:cubicBezTo>
                        <a:pt x="17703067" y="2424894"/>
                        <a:pt x="17835360" y="3920887"/>
                        <a:pt x="17682880" y="5608330"/>
                      </a:cubicBezTo>
                      <a:cubicBezTo>
                        <a:pt x="17717664" y="5993053"/>
                        <a:pt x="17377689" y="6290582"/>
                        <a:pt x="16993749" y="6297461"/>
                      </a:cubicBezTo>
                      <a:cubicBezTo>
                        <a:pt x="10379320" y="6385100"/>
                        <a:pt x="6294985" y="6224782"/>
                        <a:pt x="689131" y="6297461"/>
                      </a:cubicBezTo>
                      <a:cubicBezTo>
                        <a:pt x="306894" y="6281818"/>
                        <a:pt x="-18643" y="6014836"/>
                        <a:pt x="0" y="5608330"/>
                      </a:cubicBezTo>
                      <a:cubicBezTo>
                        <a:pt x="-38581" y="4288688"/>
                        <a:pt x="63341" y="1337834"/>
                        <a:pt x="0" y="689131"/>
                      </a:cubicBezTo>
                      <a:close/>
                    </a:path>
                  </a:pathLst>
                </a:custGeom>
                <a:noFill/>
                <a:ln w="76200">
                  <a:solidFill>
                    <a:srgbClr val="C1E5F5"/>
                  </a:solidFill>
                  <a:prstDash val="solid"/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>
                            <a:gd name="adj" fmla="val 10943"/>
                          </a:avLst>
                        </a:prstGeom>
                        <ask:type>
                          <ask:lineSketchCurved/>
                        </ask:type>
                      </ask:lineSketchStyleProps>
                    </a:ext>
                  </a:extLst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4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矩形: 圆角 16">
                  <a:extLst>
                    <a:ext uri="{FF2B5EF4-FFF2-40B4-BE49-F238E27FC236}">
                      <a16:creationId xmlns:a16="http://schemas.microsoft.com/office/drawing/2014/main" id="{CA0895E0-2AB8-E8B4-479E-A1D770AEF0D1}"/>
                    </a:ext>
                  </a:extLst>
                </p:cNvPr>
                <p:cNvSpPr/>
                <p:nvPr/>
              </p:nvSpPr>
              <p:spPr>
                <a:xfrm>
                  <a:off x="4478005" y="14798880"/>
                  <a:ext cx="9018510" cy="999874"/>
                </a:xfrm>
                <a:prstGeom prst="roundRect">
                  <a:avLst>
                    <a:gd name="adj" fmla="val 30386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9" b="1">
                      <a:solidFill>
                        <a:srgbClr val="60B8D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anose="020B0604020202020204" pitchFamily="34" charset="0"/>
                      <a:cs typeface="Arial" panose="020B0604020202020204" pitchFamily="34" charset="0"/>
                    </a:rPr>
                    <a:t>Scan It !</a:t>
                  </a:r>
                  <a:endParaRPr lang="en-US" altLang="zh-CN" sz="1609" b="1" dirty="0">
                    <a:solidFill>
                      <a:srgbClr val="60B8D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237FD7B2-C99A-224B-0975-53985855CCDF}"/>
              </a:ext>
            </a:extLst>
          </p:cNvPr>
          <p:cNvSpPr/>
          <p:nvPr/>
        </p:nvSpPr>
        <p:spPr>
          <a:xfrm>
            <a:off x="-584227" y="6496802"/>
            <a:ext cx="10580715" cy="361198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4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39AF8D4-9CBE-9F44-174B-D25B431465FA}"/>
              </a:ext>
            </a:extLst>
          </p:cNvPr>
          <p:cNvGrpSpPr/>
          <p:nvPr/>
        </p:nvGrpSpPr>
        <p:grpSpPr>
          <a:xfrm>
            <a:off x="216127" y="6396422"/>
            <a:ext cx="1507123" cy="474999"/>
            <a:chOff x="12922660" y="21046623"/>
            <a:chExt cx="1707675" cy="465546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C0807FA-FB42-8B9E-EFAF-F7FBDFC418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325" r="74982"/>
            <a:stretch/>
          </p:blipFill>
          <p:spPr>
            <a:xfrm>
              <a:off x="12922660" y="21160175"/>
              <a:ext cx="440465" cy="283863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E23889A3-1C2D-414F-A29A-2AACBD6321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00" t="30812" r="51295" b="15191"/>
            <a:stretch/>
          </p:blipFill>
          <p:spPr>
            <a:xfrm>
              <a:off x="13391568" y="21046623"/>
              <a:ext cx="1238767" cy="465546"/>
            </a:xfrm>
            <a:prstGeom prst="rect">
              <a:avLst/>
            </a:prstGeom>
          </p:spPr>
        </p:pic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7BCC02A-56DE-9849-17B5-A1F3EB86626C}"/>
              </a:ext>
            </a:extLst>
          </p:cNvPr>
          <p:cNvSpPr txBox="1"/>
          <p:nvPr/>
        </p:nvSpPr>
        <p:spPr>
          <a:xfrm>
            <a:off x="568449" y="2042402"/>
            <a:ext cx="908587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>
                <a:solidFill>
                  <a:srgbClr val="E0933F"/>
                </a:solidFill>
                <a:latin typeface="Comic Sans MS" panose="030F0702030302020204" pitchFamily="66" charset="0"/>
              </a:rPr>
              <a:t>Looking for </a:t>
            </a:r>
            <a:r>
              <a:rPr lang="en-US" altLang="zh-CN" sz="8800" b="1">
                <a:solidFill>
                  <a:schemeClr val="accent5"/>
                </a:solidFill>
                <a:latin typeface="Comic Sans MS" panose="030F0702030302020204" pitchFamily="66" charset="0"/>
              </a:rPr>
              <a:t>P</a:t>
            </a:r>
            <a:r>
              <a:rPr lang="en-US" altLang="zh-CN" sz="8800" b="1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h</a:t>
            </a:r>
            <a:r>
              <a:rPr lang="en-US" altLang="zh-CN" sz="8800" b="1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D</a:t>
            </a:r>
            <a:r>
              <a:rPr lang="en-US" altLang="zh-CN" sz="3600" b="1">
                <a:solidFill>
                  <a:srgbClr val="E0933F"/>
                </a:solidFill>
                <a:latin typeface="Comic Sans MS" panose="030F0702030302020204" pitchFamily="66" charset="0"/>
              </a:rPr>
              <a:t> Position </a:t>
            </a:r>
            <a:r>
              <a:rPr lang="zh-CN" altLang="en-US" sz="3600" b="1">
                <a:solidFill>
                  <a:srgbClr val="E0933F"/>
                </a:solidFill>
                <a:latin typeface="Comic Sans MS" panose="030F0702030302020204" pitchFamily="66" charset="0"/>
              </a:rPr>
              <a:t>！！！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B311C-829E-DE5D-B862-BFB2AF6225DA}"/>
              </a:ext>
            </a:extLst>
          </p:cNvPr>
          <p:cNvSpPr txBox="1"/>
          <p:nvPr/>
        </p:nvSpPr>
        <p:spPr>
          <a:xfrm>
            <a:off x="3084971" y="4106900"/>
            <a:ext cx="324601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>
                <a:solidFill>
                  <a:srgbClr val="00B0F0"/>
                </a:solidFill>
                <a:latin typeface="Comic Sans MS" panose="030F0702030302020204" pitchFamily="66" charset="0"/>
              </a:rPr>
              <a:t>Research Interests:</a:t>
            </a:r>
          </a:p>
          <a:p>
            <a:pPr algn="ctr"/>
            <a:endParaRPr lang="en-US" altLang="zh-CN" sz="2000" b="1">
              <a:solidFill>
                <a:srgbClr val="00B0F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US" altLang="zh-CN" sz="2000" b="1">
                <a:solidFill>
                  <a:srgbClr val="00B0F0"/>
                </a:solidFill>
                <a:latin typeface="Comic Sans MS" panose="030F0702030302020204" pitchFamily="66" charset="0"/>
              </a:rPr>
              <a:t>Human Motion Tracking,</a:t>
            </a:r>
          </a:p>
          <a:p>
            <a:pPr algn="ctr"/>
            <a:r>
              <a:rPr lang="en-US" altLang="zh-CN" sz="2000" b="1">
                <a:solidFill>
                  <a:srgbClr val="00B0F0"/>
                </a:solidFill>
                <a:latin typeface="Comic Sans MS" panose="030F0702030302020204" pitchFamily="66" charset="0"/>
              </a:rPr>
              <a:t>Avatar, </a:t>
            </a:r>
          </a:p>
          <a:p>
            <a:pPr algn="ctr"/>
            <a:r>
              <a:rPr lang="en-US" altLang="zh-CN" sz="2000" b="1">
                <a:solidFill>
                  <a:srgbClr val="00B0F0"/>
                </a:solidFill>
                <a:latin typeface="Comic Sans MS" panose="030F0702030302020204" pitchFamily="66" charset="0"/>
              </a:rPr>
              <a:t>3D Perception,  </a:t>
            </a:r>
            <a:endParaRPr lang="zh-CN" altLang="en-US" sz="2000" b="1">
              <a:solidFill>
                <a:srgbClr val="00B0F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34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100</Words>
  <Application>Microsoft Office PowerPoint</Application>
  <PresentationFormat>A4 纸张(210x297 毫米)</PresentationFormat>
  <Paragraphs>26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Comic Sans MS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姝婷 赵</dc:creator>
  <cp:lastModifiedBy>姝婷 赵</cp:lastModifiedBy>
  <cp:revision>32</cp:revision>
  <cp:lastPrinted>2026-01-19T10:38:47Z</cp:lastPrinted>
  <dcterms:created xsi:type="dcterms:W3CDTF">2026-01-19T10:04:29Z</dcterms:created>
  <dcterms:modified xsi:type="dcterms:W3CDTF">2026-08-19T03:47:11Z</dcterms:modified>
</cp:coreProperties>
</file>